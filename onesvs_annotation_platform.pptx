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FF"/>
                </a:solidFill>
              </a:rPr>
              <a:t>onesvs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ML Annotation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99"/>
                </a:solidFill>
              </a:rPr>
              <a:t>Use-case guide for field reviewers, data annotators, and developers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914400"/>
            <a:ext cx="2011680" cy="47548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280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👍 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331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⚡ Pre-Annotate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338327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✏️ Annotate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4434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🔨 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99"/>
                </a:solidFill>
              </a:rPr>
              <a:t>Internal — not for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does this system 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99"/>
                </a:solidFill>
              </a:rPr>
              <a:t>The onesvs platform has two distinct jobs: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394960" cy="41148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45720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1  Field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</a:rPr>
              <a:t>Live quality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Technicians photograph ice machines in the field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Photos arrive instantly via the mobile app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A reviewer checks each photo and clicks Approve or Reject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The AI model's predictions are shown alongside the photo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No ML knowledge needed — just visual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394960" cy="41148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45720" cy="4114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2  Dataset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</a:rPr>
              <a:t>Periodic ML training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4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Collect large batches of photos from the index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Run the model on all photos to generate draft labels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A data annotator corrects any wrong labels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Export the clean dataset and retrain the model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Requires understanding of the label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99"/>
                </a:solidFill>
              </a:rPr>
              <a:t>Field Operations — Live Photo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Review Page  /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Where non-technical reviewers approve or reject incoming field photos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4754880" cy="420624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99"/>
                </a:solidFill>
              </a:rPr>
              <a:t>[ Photo from technician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IceMaker  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CubeSeperator  87%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29200"/>
            <a:ext cx="137160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0F1A"/>
                </a:solidFill>
              </a:rPr>
              <a:t>✅ Approve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5029200"/>
            <a:ext cx="137160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❌ Reject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5029200"/>
            <a:ext cx="1097280" cy="411480"/>
          </a:xfrm>
          <a:prstGeom prst="rect">
            <a:avLst/>
          </a:prstGeom>
          <a:solidFill>
            <a:srgbClr val="1A1A2E"/>
          </a:solidFill>
          <a:ln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5029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99"/>
                </a:solidFill>
              </a:rPr>
              <a:t>⏭ Skip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508760"/>
            <a:ext cx="6217920" cy="123444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✅ 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01168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The photo is good. Labels look correct. It gets logged as approved and counted toward the model's performance stats.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880360"/>
            <a:ext cx="6217920" cy="123444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</a:rPr>
              <a:t>❌  Reject → Q-Review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38328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Something is wrong — bad photo, wrong labels, or unrecognised machine. Sent to the Q-Review queue for a data annotator to fix.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4251960"/>
            <a:ext cx="6217920" cy="109728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8899"/>
                </a:solidFill>
              </a:rPr>
              <a:t>⏭  Skip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7548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Not sure? Skip moves to the next photo without recording a decision. You can come back to it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Q-Review Queue  /q-review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32004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Photos flagged by reviewers that need annotation fixes before they can be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Who uses this?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 annotators / ML team — not field reviewers. This queue is the handoff point between the two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Lists every photo rejected during the live review</a:t>
            </a:r>
          </a:p>
          <a:p>
            <a:r>
              <a:rPr sz="1500" b="1">
                <a:solidFill>
                  <a:srgbClr val="00D4FF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Shows what the model predicted so you can see what went wrong</a:t>
            </a:r>
          </a:p>
          <a:p>
            <a:r>
              <a:rPr sz="1500" b="1">
                <a:solidFill>
                  <a:srgbClr val="00D4FF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The annotator opens the photo in the annotation tool to correct the labels</a:t>
            </a:r>
          </a:p>
          <a:p>
            <a:r>
              <a:rPr sz="1500" b="1">
                <a:solidFill>
                  <a:srgbClr val="00D4FF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Once corrected, the photo can be re-submitted and approved</a:t>
            </a:r>
          </a:p>
          <a:p>
            <a:r>
              <a:rPr sz="1500" b="1">
                <a:solidFill>
                  <a:srgbClr val="00D4FF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Rejected photos are never used for training until they pass through Q-Review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Browse All  /gallery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A visual grid of all photos — useful for spotting patterns and understanding what the model sees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560320" cy="201168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IceMaker  CubeSeperator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54480"/>
            <a:ext cx="2560320" cy="201168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632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water_filter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2560320" cy="201168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632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FrontOfMachine  IceBin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554480"/>
            <a:ext cx="2560320" cy="201168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0632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BackOfMachine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560320" cy="201168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drain_line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840480"/>
            <a:ext cx="2560320" cy="201168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IceHead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840480"/>
            <a:ext cx="2560320" cy="201168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Condenser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840480"/>
            <a:ext cx="2560320" cy="2011680"/>
          </a:xfrm>
          <a:prstGeom prst="rect">
            <a:avLst/>
          </a:prstGeom>
          <a:solidFill>
            <a:srgbClr val="121222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No detections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D4FF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No decisions made here — read-only view</a:t>
            </a:r>
          </a:p>
          <a:p>
            <a:r>
              <a:rPr sz="1200" b="1">
                <a:solidFill>
                  <a:srgbClr val="00D4FF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Each thumbnail shows the model's predicted labels</a:t>
            </a:r>
          </a:p>
          <a:p>
            <a:r>
              <a:rPr sz="1200" b="1">
                <a:solidFill>
                  <a:srgbClr val="00D4FF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Click a photo to open the full review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99"/>
                </a:solidFill>
              </a:rPr>
              <a:t>Dataset Building — ML Training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Dataset Building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36576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A repeating cycle that improves the model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103120" cy="41148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45720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Gather photos from
index.csv or local folders
(cube separator, drop zone, etc.)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2A3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600200"/>
            <a:ext cx="2103120" cy="41148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600200"/>
            <a:ext cx="45720" cy="4114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Pre-Annotate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Stream each photo
through YOLO in memory.
No files saved to disk.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2A3E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600200"/>
            <a:ext cx="2103120" cy="41148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600200"/>
            <a:ext cx="45720" cy="4114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39C12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Correct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Data annotator reviews
draft labels. Fixes wrong
or missing annotations.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2A3E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600200"/>
            <a:ext cx="2103120" cy="41148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1600200"/>
            <a:ext cx="45720" cy="4114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B59B6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Build YOLO dataset
from approved annotations
(train / val split).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2A3E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600200"/>
            <a:ext cx="2103120" cy="41148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1600200"/>
            <a:ext cx="4572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3946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Retrain the model
on the new dataset.
Deploy updated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index.csv — The Source of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32004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Every photo that enters the dataset workflow has a row in index.csv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1616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image_id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27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company_name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6276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job_id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27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11247120" cy="457200"/>
          </a:xfrm>
          <a:prstGeom prst="rect">
            <a:avLst/>
          </a:prstGeom>
          <a:solidFill>
            <a:srgbClr val="131324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30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Filtrex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30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89097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30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https://storage.../full_picture.jpg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130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30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33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633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Filtrex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633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89097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633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https://storage.../cube_sep.jpg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633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33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solidFill>
            <a:srgbClr val="131324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IceCo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91234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https://storage.../front.jpg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</a:rPr>
              <a:t>q_review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NOISE | det=0.004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639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639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ArcticAir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639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88001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639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https://storage.../bin.jpg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639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3946"/>
                </a:solidFill>
              </a:rPr>
              <a:t>rejected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39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0624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status drives the review queue — only 'pending' rows appear for review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Approve → status becomes 'approved'  |  Reject → 'q_review'  |  Skip → stays 'pending'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Pre-Annotate reads this file to find URLs — no photos are downloaded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Pre-Annotate  /pre-annotate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32004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Batch-runs the YOLO model over every photo in index.csv — entirely in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011680" cy="1371600"/>
          </a:xfrm>
          <a:prstGeom prst="rect">
            <a:avLst/>
          </a:prstGeom>
          <a:solidFill>
            <a:srgbClr val="1616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4572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index.csv
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A2A3E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00200"/>
            <a:ext cx="2011680" cy="1371600"/>
          </a:xfrm>
          <a:prstGeom prst="rect">
            <a:avLst/>
          </a:prstGeom>
          <a:solidFill>
            <a:srgbClr val="1616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600200"/>
            <a:ext cx="45720" cy="1371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82880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Stream URL
→ 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A2A3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00200"/>
            <a:ext cx="2011680" cy="1371600"/>
          </a:xfrm>
          <a:prstGeom prst="rect">
            <a:avLst/>
          </a:prstGeom>
          <a:solidFill>
            <a:srgbClr val="1616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600200"/>
            <a:ext cx="45720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82880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YOLO inference
(no disk)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A2A3E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00200"/>
            <a:ext cx="2011680" cy="1371600"/>
          </a:xfrm>
          <a:prstGeom prst="rect">
            <a:avLst/>
          </a:prstGeom>
          <a:solidFill>
            <a:srgbClr val="1616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600200"/>
            <a:ext cx="45720" cy="1371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82880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Save polygon
to labels.json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A2A3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600200"/>
            <a:ext cx="2011680" cy="1371600"/>
          </a:xfrm>
          <a:prstGeom prst="rect">
            <a:avLst/>
          </a:prstGeom>
          <a:solidFill>
            <a:srgbClr val="1616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600200"/>
            <a:ext cx="45720" cy="1371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82880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Next photo
(resume-safe)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5486400" cy="301752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Progress Page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886200"/>
            <a:ext cx="5029200" cy="228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886200"/>
            <a:ext cx="3017520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60%  (1,080 / 1,863)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617720"/>
            <a:ext cx="1097280" cy="822960"/>
          </a:xfrm>
          <a:prstGeom prst="rect">
            <a:avLst/>
          </a:prstGeom>
          <a:solidFill>
            <a:srgbClr val="0F0F1A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1,080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Done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4617720"/>
            <a:ext cx="1097280" cy="822960"/>
          </a:xfrm>
          <a:prstGeom prst="rect">
            <a:avLst/>
          </a:prstGeom>
          <a:solidFill>
            <a:srgbClr val="0F0F1A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4663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1,863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Total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617720"/>
            <a:ext cx="1097280" cy="822960"/>
          </a:xfrm>
          <a:prstGeom prst="rect">
            <a:avLst/>
          </a:prstGeom>
          <a:solidFill>
            <a:srgbClr val="0F0F1A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4663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</a:rPr>
              <a:t>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Skipped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4617720"/>
            <a:ext cx="1097280" cy="822960"/>
          </a:xfrm>
          <a:prstGeom prst="rect">
            <a:avLst/>
          </a:prstGeom>
          <a:solidFill>
            <a:srgbClr val="0F0F1A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663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3946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Errors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3375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Saves to disk every 25 photos — safe to cancel and resume</a:t>
            </a:r>
          </a:p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Already-annotated photos are skipped automatically</a:t>
            </a:r>
          </a:p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Segmentation polygons saved, not just bounding boxes</a:t>
            </a:r>
          </a:p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Cancel button stops after the current photo completes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Annotation Tool  (annotate.py)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3657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Desktop GUI for drawing, correcting, and managing segmentation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029200" cy="466344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When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Correcting wrong labels from pre-annotation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Adding labels the model missed entirely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Drawing segmentation masks on new photo batches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Fixing Q-Review photos before re-approving</a:t>
            </a:r>
          </a:p>
          <a:p>
            <a:r>
              <a:rPr sz="1300" b="1">
                <a:solidFill>
                  <a:srgbClr val="00D4FF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Building the initial dataset from scratch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508760"/>
            <a:ext cx="5943600" cy="219456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Launch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--images data/merged/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423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Annotate a local folder of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--index index.csv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423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Load URLs from index (no download)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--project svs_plumbing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23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Open a named project with its labels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3886200"/>
            <a:ext cx="5943600" cy="219456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977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Label categories (sample)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4480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FrontOfMachine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480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BackOfMachine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828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IceBin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828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IceHead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1755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IceMaker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51755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CubeSeperator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55229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water_filter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55229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drain_line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Condenser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data_sticker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annotations.json — COCO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36576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The single file that stores all annotations — used for training, review, and the gallery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0" cy="4663440"/>
          </a:xfrm>
          <a:prstGeom prst="rect">
            <a:avLst/>
          </a:prstGeom>
          <a:solidFill>
            <a:srgbClr val="0A0A14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2120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{
  "images": [
    { "id": 1,
      "file_name": "job89097_img1.jpg",
      "width": 1920, "height": 1080 }
  ],
  "categories": [
    { "id": 15, "name": "FrontOfMachine" },
    { "id": 25, "name": "CubeSeperator" }
  ],
  "annotations": [
    { "id": 1,
      "image_id": 1,
      "category_id": 15,
      "bbox": [120, 80, 640, 480],
      "segmentation": [[120,80,
        760,80, 760,560, 120,560]],
      "score": 0.94 }
  ]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bbox is always stored (COCO requires it) but segmentation is the primary shape</a:t>
            </a:r>
          </a:p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score field stores the model's confidence from pre-annotation</a:t>
            </a:r>
          </a:p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Adding a new label just appends to 'categories' — no ID collisions if names are unique</a:t>
            </a:r>
          </a:p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Safe to open in the annotation tool at any time — it reads and writes this file directly</a:t>
            </a:r>
          </a:p>
          <a:p>
            <a:r>
              <a:rPr sz="1300" b="1">
                <a:solidFill>
                  <a:srgbClr val="06D6A0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Backed up automatically before each training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Deploying on Apple Silicon (M4 Mac Mini)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The Neural Engine accelerates inference — not HTTP. Both bottlenecks are addressed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394960" cy="22860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⚡  Neural Engine (ANE)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Export the model once: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D4FF"/>
                </a:solidFill>
              </a:rPr>
              <a:t>YOLO("best.pt").export(format="coreml")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MODEL_PATH in .env to best.mlpackage
Ultralytics routes automatically to ANE on Apple Silicon.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394960" cy="219456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🌐  HTTP 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262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Pre-annotation streams photos from cloud URLs.
With async concurrency (10 parallel requests)
+ fast ANE inference, 1,800 photos ≈ under 10 min.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5577840" cy="466344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Bottleneck breakdown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057400"/>
            <a:ext cx="5577840" cy="502920"/>
          </a:xfrm>
          <a:prstGeom prst="rect">
            <a:avLst/>
          </a:prstGeom>
          <a:solidFill>
            <a:srgbClr val="1616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ANE helps?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98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HTTP download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898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Network I/O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8986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3946"/>
                </a:solidFill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484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YOLO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6484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Compute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6484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Yes — a 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982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Save to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3982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Disk I/O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3982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148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Draw annotations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148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CPU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5148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9C12"/>
                </a:solidFill>
              </a:rPr>
              <a:t>Partial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Label Categories — Proposed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41148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Using COCO supercategory to group labels — no impact on training, cleaner annotator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331720" cy="50292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45720" cy="5029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240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Ice Machine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FrontOfMachine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BackOfMachine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912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SideOfMachine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508760"/>
            <a:ext cx="2331720" cy="50292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508760"/>
            <a:ext cx="45720" cy="5029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600200"/>
            <a:ext cx="2240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Ice Machine 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23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IceHead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07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IceBin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1912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Inside_IceBin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753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IceMaker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593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CubeSeperator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434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Condenser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727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RemoteUnit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114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Candy_Cane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508760"/>
            <a:ext cx="2331720" cy="50292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0" y="1508760"/>
            <a:ext cx="45720" cy="5029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600200"/>
            <a:ext cx="2240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Plumbing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423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water_filter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807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water_line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1912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water_valve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5753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water_stop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9593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drain_line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3434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drain_outlet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727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bin_drain_line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1114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air-gap_fitting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4955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braided_line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8795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pressure_gauge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1508760"/>
            <a:ext cx="2331720" cy="50292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1508760"/>
            <a:ext cx="45720" cy="5029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1600200"/>
            <a:ext cx="2240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</a:rPr>
              <a:t>Electrical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2423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disconnect_box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2807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control_box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31912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bin_control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19" y="35753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capacitor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1508760"/>
            <a:ext cx="1691640" cy="5029200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32720" y="1508760"/>
            <a:ext cx="45720" cy="5029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16002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</a:rPr>
              <a:t>Identification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2423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data_sticker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28072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aqua_sticker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1912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installation_date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35753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qr_code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Quick Reference — Which Tool for Which Job?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5029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704088"/>
          </a:xfrm>
          <a:prstGeom prst="rect">
            <a:avLst/>
          </a:prstGeom>
          <a:solidFill>
            <a:srgbClr val="1616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2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Page /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2527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Who uses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2527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9" y="12527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11247120" cy="70408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/  (Review)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025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Field reviewer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025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Daily — as photos arrive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200253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Approve/reject incoming photos from technicians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96896"/>
            <a:ext cx="11247120" cy="704088"/>
          </a:xfrm>
          <a:prstGeom prst="rect">
            <a:avLst/>
          </a:prstGeom>
          <a:solidFill>
            <a:srgbClr val="131324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523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/q-review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7523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 annotator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523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After review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275234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Fix labels on rejected photos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46704"/>
            <a:ext cx="11247120" cy="70408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021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/gallery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5021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Anyone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502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Anytime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35021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Browse all photos + predictions, read-only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96511"/>
            <a:ext cx="11247120" cy="704088"/>
          </a:xfrm>
          <a:prstGeom prst="rect">
            <a:avLst/>
          </a:prstGeom>
          <a:solidFill>
            <a:srgbClr val="131324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5195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/pre-annotate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25195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ML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25195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Before a training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425195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Batch-label new photos without downloading them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11247120" cy="70408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01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annotate.py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0017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 annotator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0017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Correcting / building dataset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50017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Draw or fix segmentation masks manually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96128"/>
            <a:ext cx="11247120" cy="704088"/>
          </a:xfrm>
          <a:prstGeom prst="rect">
            <a:avLst/>
          </a:prstGeom>
          <a:solidFill>
            <a:srgbClr val="131324"/>
          </a:solidFill>
          <a:ln w="9525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75157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/tools → Label Forge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75157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ML engineer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7515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After annotating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79" y="575157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Check precision, recall, mAP before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